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</p:sldIdLst>
  <p:sldSz cx="14630400" cy="121888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900" y="-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994792"/>
            <a:ext cx="12435840" cy="4243517"/>
          </a:xfrm>
        </p:spPr>
        <p:txBody>
          <a:bodyPr anchor="b"/>
          <a:lstStyle>
            <a:lvl1pPr algn="ctr"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6401956"/>
            <a:ext cx="10972800" cy="2942810"/>
          </a:xfrm>
        </p:spPr>
        <p:txBody>
          <a:bodyPr/>
          <a:lstStyle>
            <a:lvl1pPr marL="0" indent="0" algn="ctr">
              <a:buNone/>
              <a:defRPr sz="3840"/>
            </a:lvl1pPr>
            <a:lvl2pPr marL="731520" indent="0" algn="ctr">
              <a:buNone/>
              <a:defRPr sz="3200"/>
            </a:lvl2pPr>
            <a:lvl3pPr marL="1463040" indent="0" algn="ctr">
              <a:buNone/>
              <a:defRPr sz="2880"/>
            </a:lvl3pPr>
            <a:lvl4pPr marL="2194560" indent="0" algn="ctr">
              <a:buNone/>
              <a:defRPr sz="2560"/>
            </a:lvl4pPr>
            <a:lvl5pPr marL="2926080" indent="0" algn="ctr">
              <a:buNone/>
              <a:defRPr sz="2560"/>
            </a:lvl5pPr>
            <a:lvl6pPr marL="3657600" indent="0" algn="ctr">
              <a:buNone/>
              <a:defRPr sz="2560"/>
            </a:lvl6pPr>
            <a:lvl7pPr marL="4389120" indent="0" algn="ctr">
              <a:buNone/>
              <a:defRPr sz="2560"/>
            </a:lvl7pPr>
            <a:lvl8pPr marL="5120640" indent="0" algn="ctr">
              <a:buNone/>
              <a:defRPr sz="2560"/>
            </a:lvl8pPr>
            <a:lvl9pPr marL="5852160" indent="0" algn="ctr">
              <a:buNone/>
              <a:defRPr sz="25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48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13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3038745"/>
            <a:ext cx="12618720" cy="507021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8156923"/>
            <a:ext cx="12618720" cy="2666305"/>
          </a:xfrm>
        </p:spPr>
        <p:txBody>
          <a:bodyPr/>
          <a:lstStyle>
            <a:lvl1pPr marL="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1pPr>
            <a:lvl2pPr marL="73152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2pPr>
            <a:lvl3pPr marL="146304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3pPr>
            <a:lvl4pPr marL="219456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4pPr>
            <a:lvl5pPr marL="292608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5pPr>
            <a:lvl6pPr marL="365760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6pPr>
            <a:lvl7pPr marL="438912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7pPr>
            <a:lvl8pPr marL="512064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8pPr>
            <a:lvl9pPr marL="585216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55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3244711"/>
            <a:ext cx="621792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3244711"/>
            <a:ext cx="6217920" cy="77336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251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648945"/>
            <a:ext cx="12618720" cy="23559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7" y="2987956"/>
            <a:ext cx="6189344" cy="1464351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0" b="1"/>
            </a:lvl4pPr>
            <a:lvl5pPr marL="2926080" indent="0">
              <a:buNone/>
              <a:defRPr sz="2560" b="1"/>
            </a:lvl5pPr>
            <a:lvl6pPr marL="3657600" indent="0">
              <a:buNone/>
              <a:defRPr sz="2560" b="1"/>
            </a:lvl6pPr>
            <a:lvl7pPr marL="4389120" indent="0">
              <a:buNone/>
              <a:defRPr sz="2560" b="1"/>
            </a:lvl7pPr>
            <a:lvl8pPr marL="5120640" indent="0">
              <a:buNone/>
              <a:defRPr sz="2560" b="1"/>
            </a:lvl8pPr>
            <a:lvl9pPr marL="5852160" indent="0">
              <a:buNone/>
              <a:defRPr sz="2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7" y="4452307"/>
            <a:ext cx="6189344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987956"/>
            <a:ext cx="6219826" cy="1464351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0" b="1"/>
            </a:lvl4pPr>
            <a:lvl5pPr marL="2926080" indent="0">
              <a:buNone/>
              <a:defRPr sz="2560" b="1"/>
            </a:lvl5pPr>
            <a:lvl6pPr marL="3657600" indent="0">
              <a:buNone/>
              <a:defRPr sz="2560" b="1"/>
            </a:lvl6pPr>
            <a:lvl7pPr marL="4389120" indent="0">
              <a:buNone/>
              <a:defRPr sz="2560" b="1"/>
            </a:lvl7pPr>
            <a:lvl8pPr marL="5120640" indent="0">
              <a:buNone/>
              <a:defRPr sz="2560" b="1"/>
            </a:lvl8pPr>
            <a:lvl9pPr marL="5852160" indent="0">
              <a:buNone/>
              <a:defRPr sz="25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4452307"/>
            <a:ext cx="6219826" cy="65486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223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247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18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812588"/>
            <a:ext cx="4718685" cy="284405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754968"/>
            <a:ext cx="7406640" cy="8661966"/>
          </a:xfrm>
        </p:spPr>
        <p:txBody>
          <a:bodyPr/>
          <a:lstStyle>
            <a:lvl1pPr>
              <a:defRPr sz="5120"/>
            </a:lvl1pPr>
            <a:lvl2pPr>
              <a:defRPr sz="4480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3656647"/>
            <a:ext cx="4718685" cy="6774392"/>
          </a:xfrm>
        </p:spPr>
        <p:txBody>
          <a:bodyPr/>
          <a:lstStyle>
            <a:lvl1pPr marL="0" indent="0">
              <a:buNone/>
              <a:defRPr sz="2560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336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812588"/>
            <a:ext cx="4718685" cy="284405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754968"/>
            <a:ext cx="7406640" cy="8661966"/>
          </a:xfrm>
        </p:spPr>
        <p:txBody>
          <a:bodyPr anchor="t"/>
          <a:lstStyle>
            <a:lvl1pPr marL="0" indent="0">
              <a:buNone/>
              <a:defRPr sz="5120"/>
            </a:lvl1pPr>
            <a:lvl2pPr marL="731520" indent="0">
              <a:buNone/>
              <a:defRPr sz="4480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3656647"/>
            <a:ext cx="4718685" cy="6774392"/>
          </a:xfrm>
        </p:spPr>
        <p:txBody>
          <a:bodyPr/>
          <a:lstStyle>
            <a:lvl1pPr marL="0" indent="0">
              <a:buNone/>
              <a:defRPr sz="2560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2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910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648942"/>
            <a:ext cx="3154680" cy="10329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648942"/>
            <a:ext cx="9281160" cy="103294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512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648945"/>
            <a:ext cx="12618720" cy="2355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3244711"/>
            <a:ext cx="12618720" cy="7733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11297238"/>
            <a:ext cx="329184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30440-D0B7-4413-8C4F-A5751CEF63CE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11297238"/>
            <a:ext cx="493776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11297238"/>
            <a:ext cx="3291840" cy="6489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CC066-699C-416F-86F2-B1CAEEA578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97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463040" rtl="0" eaLnBrk="1" latinLnBrk="0" hangingPunct="1">
        <a:lnSpc>
          <a:spcPct val="90000"/>
        </a:lnSpc>
        <a:spcBef>
          <a:spcPct val="0"/>
        </a:spcBef>
        <a:buNone/>
        <a:defRPr sz="70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146304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448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640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8F33440-B9B6-6877-89DF-7B3D23B8B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34867" y="858346"/>
            <a:ext cx="6924716" cy="51935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C4D7BB3-3D19-39B9-415B-00075D3D9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5" r="1035"/>
          <a:stretch/>
        </p:blipFill>
        <p:spPr>
          <a:xfrm>
            <a:off x="228601" y="580074"/>
            <a:ext cx="7144683" cy="54718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660441-423A-85BC-2C4C-DB50180E3ACC}"/>
              </a:ext>
            </a:extLst>
          </p:cNvPr>
          <p:cNvSpPr txBox="1"/>
          <p:nvPr/>
        </p:nvSpPr>
        <p:spPr>
          <a:xfrm>
            <a:off x="390487" y="308052"/>
            <a:ext cx="6971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 </a:t>
            </a:r>
            <a:r>
              <a:rPr lang="en-US" dirty="0" err="1"/>
              <a:t>glm</a:t>
            </a:r>
            <a:r>
              <a:rPr lang="en-US" dirty="0"/>
              <a:t>(MCP ~ platform + log(</a:t>
            </a:r>
            <a:r>
              <a:rPr lang="en-US" dirty="0" err="1"/>
              <a:t>num_obs</a:t>
            </a:r>
            <a:r>
              <a:rPr lang="en-US" dirty="0"/>
              <a:t>), family=Gamma(link="log"))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DD4CFE-FCCE-4037-ADA6-7D65C28B4DDD}"/>
              </a:ext>
            </a:extLst>
          </p:cNvPr>
          <p:cNvSpPr txBox="1"/>
          <p:nvPr/>
        </p:nvSpPr>
        <p:spPr>
          <a:xfrm>
            <a:off x="7524345" y="308052"/>
            <a:ext cx="6359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 </a:t>
            </a:r>
            <a:r>
              <a:rPr lang="en-US" dirty="0" err="1"/>
              <a:t>glm</a:t>
            </a:r>
            <a:r>
              <a:rPr lang="en-US" dirty="0"/>
              <a:t>(log(MCP) ~ platform + log(</a:t>
            </a:r>
            <a:r>
              <a:rPr lang="en-US" dirty="0" err="1"/>
              <a:t>num_obs</a:t>
            </a:r>
            <a:r>
              <a:rPr lang="en-US" dirty="0"/>
              <a:t>), family=gaussian))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1ED0D8-1B54-F66F-25E7-68138016327B}"/>
              </a:ext>
            </a:extLst>
          </p:cNvPr>
          <p:cNvSpPr txBox="1"/>
          <p:nvPr/>
        </p:nvSpPr>
        <p:spPr>
          <a:xfrm>
            <a:off x="7524346" y="6386668"/>
            <a:ext cx="551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 </a:t>
            </a:r>
            <a:r>
              <a:rPr lang="en-US" dirty="0" err="1"/>
              <a:t>glm</a:t>
            </a:r>
            <a:r>
              <a:rPr lang="en-US" dirty="0"/>
              <a:t>(MCP ~ platform + </a:t>
            </a:r>
            <a:r>
              <a:rPr lang="en-US" dirty="0" err="1"/>
              <a:t>num_obs</a:t>
            </a:r>
            <a:r>
              <a:rPr lang="en-US" dirty="0"/>
              <a:t>, family=gaussian))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3D8D13-0CE9-CCA9-5141-D384F25244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15200" y="6906159"/>
            <a:ext cx="6757240" cy="50679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C1E0BE7-4C82-2A4D-3614-27B66CD552A2}"/>
              </a:ext>
            </a:extLst>
          </p:cNvPr>
          <p:cNvSpPr txBox="1"/>
          <p:nvPr/>
        </p:nvSpPr>
        <p:spPr>
          <a:xfrm>
            <a:off x="390485" y="6386668"/>
            <a:ext cx="5947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 </a:t>
            </a:r>
            <a:r>
              <a:rPr lang="en-US" dirty="0" err="1"/>
              <a:t>glm</a:t>
            </a:r>
            <a:r>
              <a:rPr lang="en-US" dirty="0"/>
              <a:t>(MCP ~ platform + log(</a:t>
            </a:r>
            <a:r>
              <a:rPr lang="en-US" dirty="0" err="1"/>
              <a:t>num_obs</a:t>
            </a:r>
            <a:r>
              <a:rPr lang="en-US" dirty="0"/>
              <a:t>), family=gaussian))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BB8394-02BB-BAE5-4A8C-703688F51B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484" y="6843357"/>
            <a:ext cx="6924716" cy="5193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520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24DE39-F9D8-5957-33E1-2146FE9424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15201" y="1727201"/>
            <a:ext cx="6825343" cy="68253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8A58F74-479D-84F3-804C-40CF6A69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1" y="1727200"/>
            <a:ext cx="6825343" cy="68253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ECD1F8-431D-B940-D383-442EC03258CD}"/>
              </a:ext>
            </a:extLst>
          </p:cNvPr>
          <p:cNvSpPr txBox="1"/>
          <p:nvPr/>
        </p:nvSpPr>
        <p:spPr>
          <a:xfrm>
            <a:off x="228600" y="1265535"/>
            <a:ext cx="5453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5774A5-C131-B881-68EA-7181080819F0}"/>
              </a:ext>
            </a:extLst>
          </p:cNvPr>
          <p:cNvSpPr txBox="1"/>
          <p:nvPr/>
        </p:nvSpPr>
        <p:spPr>
          <a:xfrm>
            <a:off x="7200901" y="1265535"/>
            <a:ext cx="5501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90015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D24CD-4A6F-6DC8-3DC2-84DE3B154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383" y="6578199"/>
            <a:ext cx="7393620" cy="55452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7B29545-6D3B-F460-1B43-3C40EC9B57FB}"/>
              </a:ext>
            </a:extLst>
          </p:cNvPr>
          <p:cNvSpPr txBox="1"/>
          <p:nvPr/>
        </p:nvSpPr>
        <p:spPr>
          <a:xfrm>
            <a:off x="181343" y="130251"/>
            <a:ext cx="6736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 </a:t>
            </a:r>
            <a:r>
              <a:rPr lang="en-US" dirty="0" err="1"/>
              <a:t>glm</a:t>
            </a:r>
            <a:r>
              <a:rPr lang="en-US" dirty="0"/>
              <a:t>(log(</a:t>
            </a:r>
            <a:r>
              <a:rPr lang="en-US" dirty="0" err="1"/>
              <a:t>grid_area</a:t>
            </a:r>
            <a:r>
              <a:rPr lang="en-US" dirty="0"/>
              <a:t>) ~ platform + log(</a:t>
            </a:r>
            <a:r>
              <a:rPr lang="en-US" dirty="0" err="1"/>
              <a:t>num_obs</a:t>
            </a:r>
            <a:r>
              <a:rPr lang="en-US" dirty="0"/>
              <a:t>), family=gaussian)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2CDF50-FECA-4DC5-334B-7FB0F1454645}"/>
              </a:ext>
            </a:extLst>
          </p:cNvPr>
          <p:cNvSpPr txBox="1"/>
          <p:nvPr/>
        </p:nvSpPr>
        <p:spPr>
          <a:xfrm>
            <a:off x="7639220" y="133503"/>
            <a:ext cx="6430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 </a:t>
            </a:r>
            <a:r>
              <a:rPr lang="en-US" dirty="0" err="1"/>
              <a:t>glm</a:t>
            </a:r>
            <a:r>
              <a:rPr lang="en-US" dirty="0"/>
              <a:t>(</a:t>
            </a:r>
            <a:r>
              <a:rPr lang="en-US" dirty="0" err="1"/>
              <a:t>grid_area</a:t>
            </a:r>
            <a:r>
              <a:rPr lang="en-US" dirty="0"/>
              <a:t> ~ platform + log(</a:t>
            </a:r>
            <a:r>
              <a:rPr lang="en-US" dirty="0" err="1"/>
              <a:t>num_obs</a:t>
            </a:r>
            <a:r>
              <a:rPr lang="en-US" dirty="0"/>
              <a:t>), family=gaussian)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7D6853-2838-5FD0-6B25-9BAFF7EF7D2C}"/>
              </a:ext>
            </a:extLst>
          </p:cNvPr>
          <p:cNvSpPr txBox="1"/>
          <p:nvPr/>
        </p:nvSpPr>
        <p:spPr>
          <a:xfrm>
            <a:off x="7639220" y="6208867"/>
            <a:ext cx="69422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(D) </a:t>
            </a:r>
            <a:r>
              <a:rPr lang="en-US" dirty="0" err="1"/>
              <a:t>glm</a:t>
            </a:r>
            <a:r>
              <a:rPr lang="en-US" dirty="0"/>
              <a:t>(</a:t>
            </a:r>
            <a:r>
              <a:rPr lang="en-US" dirty="0" err="1"/>
              <a:t>grid_area</a:t>
            </a:r>
            <a:r>
              <a:rPr lang="en-US" dirty="0"/>
              <a:t> ~ platform + </a:t>
            </a:r>
            <a:r>
              <a:rPr lang="en-US" dirty="0" err="1"/>
              <a:t>num_obs</a:t>
            </a:r>
            <a:r>
              <a:rPr lang="en-US" dirty="0"/>
              <a:t>, family=Gamma(link="log"))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C11CDD-8372-3549-B011-A0A0E56DA881}"/>
              </a:ext>
            </a:extLst>
          </p:cNvPr>
          <p:cNvSpPr txBox="1"/>
          <p:nvPr/>
        </p:nvSpPr>
        <p:spPr>
          <a:xfrm>
            <a:off x="181342" y="6208867"/>
            <a:ext cx="7250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(C) </a:t>
            </a:r>
            <a:r>
              <a:rPr lang="en-US" dirty="0" err="1"/>
              <a:t>glm</a:t>
            </a:r>
            <a:r>
              <a:rPr lang="en-US" dirty="0"/>
              <a:t>(</a:t>
            </a:r>
            <a:r>
              <a:rPr lang="en-US" dirty="0" err="1"/>
              <a:t>grid_area</a:t>
            </a:r>
            <a:r>
              <a:rPr lang="en-US" dirty="0"/>
              <a:t> ~ platform + log(</a:t>
            </a:r>
            <a:r>
              <a:rPr lang="en-US" dirty="0" err="1"/>
              <a:t>num_obs</a:t>
            </a:r>
            <a:r>
              <a:rPr lang="en-US" dirty="0"/>
              <a:t>), family=Gamma(link="log"))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4E99DD-D151-9DCE-9A6D-D147C38D79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15200" y="6742267"/>
            <a:ext cx="7393620" cy="55452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F9F8644-B276-C8E1-AE6D-EB55900518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57" y="499583"/>
            <a:ext cx="7393621" cy="55452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70AF84-14A5-9D2A-0D26-2E20E8DB6A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36780" y="499583"/>
            <a:ext cx="7393621" cy="554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26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771BA-96FE-A21E-11B8-4106E40F3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EFEC0F-7ED3-F9FE-5ACF-409D7786BC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15201" y="1727201"/>
            <a:ext cx="6825343" cy="68253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81CFC4-7C11-4302-F387-BA96950D9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601" y="1727200"/>
            <a:ext cx="6825343" cy="68253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5794C7-9AF1-F157-AA99-BB85D7917421}"/>
              </a:ext>
            </a:extLst>
          </p:cNvPr>
          <p:cNvSpPr txBox="1"/>
          <p:nvPr/>
        </p:nvSpPr>
        <p:spPr>
          <a:xfrm>
            <a:off x="228600" y="1265535"/>
            <a:ext cx="5453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(A)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3AD39D-9888-5AAC-FBC3-C2193108F136}"/>
              </a:ext>
            </a:extLst>
          </p:cNvPr>
          <p:cNvSpPr txBox="1"/>
          <p:nvPr/>
        </p:nvSpPr>
        <p:spPr>
          <a:xfrm>
            <a:off x="7200901" y="1265535"/>
            <a:ext cx="5501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01380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260</TotalTime>
  <Words>186</Words>
  <Application>Microsoft Office PowerPoint</Application>
  <PresentationFormat>Custom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Mason,Brittany Marie</dc:creator>
  <cp:lastModifiedBy>Mason,Brittany Marie</cp:lastModifiedBy>
  <cp:revision>3</cp:revision>
  <dcterms:created xsi:type="dcterms:W3CDTF">2026-01-15T18:14:46Z</dcterms:created>
  <dcterms:modified xsi:type="dcterms:W3CDTF">2026-01-21T17:57:09Z</dcterms:modified>
</cp:coreProperties>
</file>