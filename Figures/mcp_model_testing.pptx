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46304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900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94792"/>
            <a:ext cx="12435840" cy="4243517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6401956"/>
            <a:ext cx="10972800" cy="2942810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4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1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3038745"/>
            <a:ext cx="12618720" cy="5070212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8156923"/>
            <a:ext cx="12618720" cy="2666305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5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3244711"/>
            <a:ext cx="621792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3244711"/>
            <a:ext cx="621792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5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648945"/>
            <a:ext cx="12618720" cy="2355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2987956"/>
            <a:ext cx="6189344" cy="1464351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4452307"/>
            <a:ext cx="6189344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987956"/>
            <a:ext cx="6219826" cy="1464351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4452307"/>
            <a:ext cx="6219826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23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4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1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812588"/>
            <a:ext cx="4718685" cy="2844059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754968"/>
            <a:ext cx="7406640" cy="8661966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656647"/>
            <a:ext cx="4718685" cy="6774392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6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812588"/>
            <a:ext cx="4718685" cy="2844059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754968"/>
            <a:ext cx="7406640" cy="8661966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656647"/>
            <a:ext cx="4718685" cy="6774392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2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10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648942"/>
            <a:ext cx="3154680" cy="10329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648942"/>
            <a:ext cx="9281160" cy="103294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1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648945"/>
            <a:ext cx="12618720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3244711"/>
            <a:ext cx="12618720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1297238"/>
            <a:ext cx="329184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30440-D0B7-4413-8C4F-A5751CEF63C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1297238"/>
            <a:ext cx="493776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1297238"/>
            <a:ext cx="329184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CC066-699C-416F-86F2-B1CAEEA5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9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test results&#10;&#10;AI-generated content may be incorrect.">
            <a:extLst>
              <a:ext uri="{FF2B5EF4-FFF2-40B4-BE49-F238E27FC236}">
                <a16:creationId xmlns:a16="http://schemas.microsoft.com/office/drawing/2014/main" id="{F8F33440-B9B6-6877-89DF-7B3D23B8B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867" y="858346"/>
            <a:ext cx="6924716" cy="5193537"/>
          </a:xfrm>
          <a:prstGeom prst="rect">
            <a:avLst/>
          </a:prstGeom>
        </p:spPr>
      </p:pic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8C4D7BB3-3D19-39B9-415B-00075D3D9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0"/>
          <a:stretch>
            <a:fillRect/>
          </a:stretch>
        </p:blipFill>
        <p:spPr>
          <a:xfrm>
            <a:off x="228601" y="580074"/>
            <a:ext cx="7144683" cy="5471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660441-423A-85BC-2C4C-DB50180E3ACC}"/>
              </a:ext>
            </a:extLst>
          </p:cNvPr>
          <p:cNvSpPr txBox="1"/>
          <p:nvPr/>
        </p:nvSpPr>
        <p:spPr>
          <a:xfrm>
            <a:off x="390487" y="308052"/>
            <a:ext cx="697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 </a:t>
            </a:r>
            <a:r>
              <a:rPr lang="en-US" dirty="0" err="1"/>
              <a:t>glm</a:t>
            </a:r>
            <a:r>
              <a:rPr lang="en-US" dirty="0"/>
              <a:t>(MCP ~ platform + log(</a:t>
            </a:r>
            <a:r>
              <a:rPr lang="en-US" dirty="0" err="1"/>
              <a:t>num_obs</a:t>
            </a:r>
            <a:r>
              <a:rPr lang="en-US" dirty="0"/>
              <a:t>), family=Gamma(link="log"))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D4CFE-FCCE-4037-ADA6-7D65C28B4DDD}"/>
              </a:ext>
            </a:extLst>
          </p:cNvPr>
          <p:cNvSpPr txBox="1"/>
          <p:nvPr/>
        </p:nvSpPr>
        <p:spPr>
          <a:xfrm>
            <a:off x="7524345" y="308052"/>
            <a:ext cx="635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 </a:t>
            </a:r>
            <a:r>
              <a:rPr lang="en-US" dirty="0" err="1"/>
              <a:t>glm</a:t>
            </a:r>
            <a:r>
              <a:rPr lang="en-US" dirty="0"/>
              <a:t>(log(MCP) ~ platform + log(</a:t>
            </a:r>
            <a:r>
              <a:rPr lang="en-US" dirty="0" err="1"/>
              <a:t>num_obs</a:t>
            </a:r>
            <a:r>
              <a:rPr lang="en-US" dirty="0"/>
              <a:t>), family=gaussian))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ED0D8-1B54-F66F-25E7-68138016327B}"/>
              </a:ext>
            </a:extLst>
          </p:cNvPr>
          <p:cNvSpPr txBox="1"/>
          <p:nvPr/>
        </p:nvSpPr>
        <p:spPr>
          <a:xfrm>
            <a:off x="7524346" y="6386668"/>
            <a:ext cx="5511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(D) </a:t>
            </a:r>
            <a:r>
              <a:rPr lang="en-US" dirty="0" err="1"/>
              <a:t>glm</a:t>
            </a:r>
            <a:r>
              <a:rPr lang="en-US" dirty="0"/>
              <a:t>(MCP ~ platform + </a:t>
            </a:r>
            <a:r>
              <a:rPr lang="en-US" dirty="0" err="1"/>
              <a:t>num_obs</a:t>
            </a:r>
            <a:r>
              <a:rPr lang="en-US" dirty="0"/>
              <a:t>, family=gaussian))</a:t>
            </a:r>
          </a:p>
        </p:txBody>
      </p:sp>
      <p:pic>
        <p:nvPicPr>
          <p:cNvPr id="12" name="Picture 11" descr="A comparison of graphs and diagrams&#10;&#10;AI-generated content may be incorrect.">
            <a:extLst>
              <a:ext uri="{FF2B5EF4-FFF2-40B4-BE49-F238E27FC236}">
                <a16:creationId xmlns:a16="http://schemas.microsoft.com/office/drawing/2014/main" id="{8D3D8D13-0CE9-CCA9-5141-D384F25244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906159"/>
            <a:ext cx="6757240" cy="50679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1E0BE7-4C82-2A4D-3614-27B66CD552A2}"/>
              </a:ext>
            </a:extLst>
          </p:cNvPr>
          <p:cNvSpPr txBox="1"/>
          <p:nvPr/>
        </p:nvSpPr>
        <p:spPr>
          <a:xfrm>
            <a:off x="390485" y="6386668"/>
            <a:ext cx="5947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 </a:t>
            </a:r>
            <a:r>
              <a:rPr lang="en-US" dirty="0" err="1"/>
              <a:t>glm</a:t>
            </a:r>
            <a:r>
              <a:rPr lang="en-US" dirty="0"/>
              <a:t>(MCP ~ platform + log(</a:t>
            </a:r>
            <a:r>
              <a:rPr lang="en-US" dirty="0" err="1"/>
              <a:t>num_obs</a:t>
            </a:r>
            <a:r>
              <a:rPr lang="en-US" dirty="0"/>
              <a:t>), family=gaussian))</a:t>
            </a:r>
          </a:p>
        </p:txBody>
      </p:sp>
      <p:pic>
        <p:nvPicPr>
          <p:cNvPr id="15" name="Picture 14" descr="A comparison of a graph&#10;&#10;AI-generated content may be incorrect.">
            <a:extLst>
              <a:ext uri="{FF2B5EF4-FFF2-40B4-BE49-F238E27FC236}">
                <a16:creationId xmlns:a16="http://schemas.microsoft.com/office/drawing/2014/main" id="{DABB8394-02BB-BAE5-4A8C-703688F51B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84" y="6843357"/>
            <a:ext cx="6924716" cy="519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2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numbers and a number of observation&#10;&#10;AI-generated content may be incorrect.">
            <a:extLst>
              <a:ext uri="{FF2B5EF4-FFF2-40B4-BE49-F238E27FC236}">
                <a16:creationId xmlns:a16="http://schemas.microsoft.com/office/drawing/2014/main" id="{0824DE39-F9D8-5957-33E1-2146FE942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1" y="1727201"/>
            <a:ext cx="6825343" cy="6825343"/>
          </a:xfrm>
          <a:prstGeom prst="rect">
            <a:avLst/>
          </a:prstGeom>
        </p:spPr>
      </p:pic>
      <p:pic>
        <p:nvPicPr>
          <p:cNvPr id="5" name="Picture 4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68A58F74-479D-84F3-804C-40CF6A690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1727200"/>
            <a:ext cx="6825343" cy="6825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ECD1F8-431D-B940-D383-442EC03258CD}"/>
              </a:ext>
            </a:extLst>
          </p:cNvPr>
          <p:cNvSpPr txBox="1"/>
          <p:nvPr/>
        </p:nvSpPr>
        <p:spPr>
          <a:xfrm>
            <a:off x="228600" y="1265535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774A5-C131-B881-68EA-7181080819F0}"/>
              </a:ext>
            </a:extLst>
          </p:cNvPr>
          <p:cNvSpPr txBox="1"/>
          <p:nvPr/>
        </p:nvSpPr>
        <p:spPr>
          <a:xfrm>
            <a:off x="7200901" y="1265535"/>
            <a:ext cx="55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9001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test&#10;&#10;AI-generated content may be incorrect.">
            <a:extLst>
              <a:ext uri="{FF2B5EF4-FFF2-40B4-BE49-F238E27FC236}">
                <a16:creationId xmlns:a16="http://schemas.microsoft.com/office/drawing/2014/main" id="{AB7D24CD-4A6F-6DC8-3DC2-84DE3B154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3" y="6578199"/>
            <a:ext cx="7393620" cy="5545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B29545-6D3B-F460-1B43-3C40EC9B57FB}"/>
              </a:ext>
            </a:extLst>
          </p:cNvPr>
          <p:cNvSpPr txBox="1"/>
          <p:nvPr/>
        </p:nvSpPr>
        <p:spPr>
          <a:xfrm>
            <a:off x="181343" y="130251"/>
            <a:ext cx="6736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 </a:t>
            </a:r>
            <a:r>
              <a:rPr lang="en-US" dirty="0" err="1"/>
              <a:t>glm</a:t>
            </a:r>
            <a:r>
              <a:rPr lang="en-US" dirty="0"/>
              <a:t>(log(</a:t>
            </a:r>
            <a:r>
              <a:rPr lang="en-US" dirty="0" err="1"/>
              <a:t>grid_area</a:t>
            </a:r>
            <a:r>
              <a:rPr lang="en-US" dirty="0"/>
              <a:t>) ~ platform + log(</a:t>
            </a:r>
            <a:r>
              <a:rPr lang="en-US" dirty="0" err="1"/>
              <a:t>num_obs</a:t>
            </a:r>
            <a:r>
              <a:rPr lang="en-US" dirty="0"/>
              <a:t>), family=gaussian)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CDF50-FECA-4DC5-334B-7FB0F1454645}"/>
              </a:ext>
            </a:extLst>
          </p:cNvPr>
          <p:cNvSpPr txBox="1"/>
          <p:nvPr/>
        </p:nvSpPr>
        <p:spPr>
          <a:xfrm>
            <a:off x="7639220" y="133503"/>
            <a:ext cx="6430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 </a:t>
            </a:r>
            <a:r>
              <a:rPr lang="en-US" dirty="0" err="1"/>
              <a:t>glm</a:t>
            </a:r>
            <a:r>
              <a:rPr lang="en-US" dirty="0"/>
              <a:t>(</a:t>
            </a:r>
            <a:r>
              <a:rPr lang="en-US" dirty="0" err="1"/>
              <a:t>grid_area</a:t>
            </a:r>
            <a:r>
              <a:rPr lang="en-US" dirty="0"/>
              <a:t> ~ platform + log(</a:t>
            </a:r>
            <a:r>
              <a:rPr lang="en-US" dirty="0" err="1"/>
              <a:t>num_obs</a:t>
            </a:r>
            <a:r>
              <a:rPr lang="en-US" dirty="0"/>
              <a:t>), family=gaussian)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D6853-2838-5FD0-6B25-9BAFF7EF7D2C}"/>
              </a:ext>
            </a:extLst>
          </p:cNvPr>
          <p:cNvSpPr txBox="1"/>
          <p:nvPr/>
        </p:nvSpPr>
        <p:spPr>
          <a:xfrm>
            <a:off x="7639220" y="6208867"/>
            <a:ext cx="6942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(D) </a:t>
            </a:r>
            <a:r>
              <a:rPr lang="en-US" dirty="0" err="1"/>
              <a:t>glm</a:t>
            </a:r>
            <a:r>
              <a:rPr lang="en-US" dirty="0"/>
              <a:t>(</a:t>
            </a:r>
            <a:r>
              <a:rPr lang="en-US" dirty="0" err="1"/>
              <a:t>grid_area</a:t>
            </a:r>
            <a:r>
              <a:rPr lang="en-US" dirty="0"/>
              <a:t> ~ platform + </a:t>
            </a:r>
            <a:r>
              <a:rPr lang="en-US" dirty="0" err="1"/>
              <a:t>num_obs</a:t>
            </a:r>
            <a:r>
              <a:rPr lang="en-US" dirty="0"/>
              <a:t>, family=Gamma(link="log"))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11CDD-8372-3549-B011-A0A0E56DA881}"/>
              </a:ext>
            </a:extLst>
          </p:cNvPr>
          <p:cNvSpPr txBox="1"/>
          <p:nvPr/>
        </p:nvSpPr>
        <p:spPr>
          <a:xfrm>
            <a:off x="181342" y="6208867"/>
            <a:ext cx="7250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 </a:t>
            </a:r>
            <a:r>
              <a:rPr lang="en-US" dirty="0" err="1"/>
              <a:t>glm</a:t>
            </a:r>
            <a:r>
              <a:rPr lang="en-US" dirty="0"/>
              <a:t>(</a:t>
            </a:r>
            <a:r>
              <a:rPr lang="en-US" dirty="0" err="1"/>
              <a:t>grid_area</a:t>
            </a:r>
            <a:r>
              <a:rPr lang="en-US" dirty="0"/>
              <a:t> ~ platform + log(</a:t>
            </a:r>
            <a:r>
              <a:rPr lang="en-US" dirty="0" err="1"/>
              <a:t>num_obs</a:t>
            </a:r>
            <a:r>
              <a:rPr lang="en-US" dirty="0"/>
              <a:t>), family=Gamma(link="log"))</a:t>
            </a:r>
          </a:p>
        </p:txBody>
      </p:sp>
      <p:pic>
        <p:nvPicPr>
          <p:cNvPr id="9" name="Picture 8" descr="A comparison of a graph&#10;&#10;AI-generated content may be incorrect.">
            <a:extLst>
              <a:ext uri="{FF2B5EF4-FFF2-40B4-BE49-F238E27FC236}">
                <a16:creationId xmlns:a16="http://schemas.microsoft.com/office/drawing/2014/main" id="{8D4E99DD-D151-9DCE-9A6D-D147C38D7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742267"/>
            <a:ext cx="7393620" cy="5545215"/>
          </a:xfrm>
          <a:prstGeom prst="rect">
            <a:avLst/>
          </a:prstGeom>
        </p:spPr>
      </p:pic>
      <p:pic>
        <p:nvPicPr>
          <p:cNvPr id="11" name="Picture 10" descr="A graph of a test&#10;&#10;AI-generated content may be incorrect.">
            <a:extLst>
              <a:ext uri="{FF2B5EF4-FFF2-40B4-BE49-F238E27FC236}">
                <a16:creationId xmlns:a16="http://schemas.microsoft.com/office/drawing/2014/main" id="{7F9F8644-B276-C8E1-AE6D-EB5590051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" y="499583"/>
            <a:ext cx="7393621" cy="5545216"/>
          </a:xfrm>
          <a:prstGeom prst="rect">
            <a:avLst/>
          </a:prstGeom>
        </p:spPr>
      </p:pic>
      <p:pic>
        <p:nvPicPr>
          <p:cNvPr id="13" name="Picture 12" descr="A comparison of a graph&#10;&#10;AI-generated content may be incorrect.">
            <a:extLst>
              <a:ext uri="{FF2B5EF4-FFF2-40B4-BE49-F238E27FC236}">
                <a16:creationId xmlns:a16="http://schemas.microsoft.com/office/drawing/2014/main" id="{1470AF84-14A5-9D2A-0D26-2E20E8DB6A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780" y="499583"/>
            <a:ext cx="7393621" cy="55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71BA-96FE-A21E-11B8-4106E40F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EFEC0F-7ED3-F9FE-5ACF-409D7786B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5201" y="1727201"/>
            <a:ext cx="6825343" cy="6825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81CFC4-7C11-4302-F387-BA96950D9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1" y="1727200"/>
            <a:ext cx="6825343" cy="6825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5794C7-9AF1-F157-AA99-BB85D7917421}"/>
              </a:ext>
            </a:extLst>
          </p:cNvPr>
          <p:cNvSpPr txBox="1"/>
          <p:nvPr/>
        </p:nvSpPr>
        <p:spPr>
          <a:xfrm>
            <a:off x="228600" y="1265535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AD39D-9888-5AAC-FBC3-C2193108F136}"/>
              </a:ext>
            </a:extLst>
          </p:cNvPr>
          <p:cNvSpPr txBox="1"/>
          <p:nvPr/>
        </p:nvSpPr>
        <p:spPr>
          <a:xfrm>
            <a:off x="7200901" y="1265535"/>
            <a:ext cx="55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70138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</TotalTime>
  <Words>186</Words>
  <Application>Microsoft Office PowerPoint</Application>
  <PresentationFormat>Custom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Mason,Brittany Marie</dc:creator>
  <cp:lastModifiedBy>Mason,Brittany Marie</cp:lastModifiedBy>
  <cp:revision>2</cp:revision>
  <dcterms:created xsi:type="dcterms:W3CDTF">2026-01-15T18:14:46Z</dcterms:created>
  <dcterms:modified xsi:type="dcterms:W3CDTF">2026-01-15T22:18:36Z</dcterms:modified>
</cp:coreProperties>
</file>